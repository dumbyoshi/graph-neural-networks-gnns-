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10"/>
  </p:normalViewPr>
  <p:slideViewPr>
    <p:cSldViewPr snapToGrid="0" snapToObjects="1">
      <p:cViewPr>
        <p:scale>
          <a:sx n="119" d="100"/>
          <a:sy n="119" d="100"/>
        </p:scale>
        <p:origin x="10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67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Node Classification in Citation Networks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7A89"/>
                </a:solidFill>
              </a:rPr>
              <a:t>Comparing Graph Convolutional Networks (GCN) and Graph Attention Networks (GAT)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2F6DF6"/>
          </a:solidFill>
          <a:ln w="12700">
            <a:solidFill>
              <a:srgbClr val="2F6D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58952" y="2345436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Case Study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28600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1CA6A6"/>
          </a:solidFill>
          <a:ln w="12700">
            <a:solidFill>
              <a:srgbClr val="1C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679192" y="2345436"/>
            <a:ext cx="20482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Cora + OGBN-Arxiv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228600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2FA84F"/>
          </a:solidFill>
          <a:ln w="12700">
            <a:solidFill>
              <a:srgbClr val="2FA8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56632" y="2345436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Node Classification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6012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38"/>
                </a:solidFill>
              </a:rPr>
              <a:t>Research question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5661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2430"/>
                </a:solidFill>
              </a:rPr>
              <a:t>Does GAT improve node classification performance compared with GCN on citation networks?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92240" y="2926080"/>
            <a:ext cx="4983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720840" y="3154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38"/>
                </a:solidFill>
              </a:rPr>
              <a:t>Core contribution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35204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DF6"/>
                </a:solidFill>
              </a:rPr>
              <a:t>• </a:t>
            </a:r>
            <a:r>
              <a:rPr lang="en-US" sz="1700" dirty="0">
                <a:solidFill>
                  <a:srgbClr val="1C2430"/>
                </a:solidFill>
              </a:rPr>
              <a:t>Baseline: GCN on Cora and Arxiv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F6DF6"/>
                </a:solidFill>
              </a:rPr>
              <a:t>• </a:t>
            </a:r>
            <a:r>
              <a:rPr lang="en-US" sz="1700" dirty="0">
                <a:solidFill>
                  <a:srgbClr val="1C2430"/>
                </a:solidFill>
              </a:rPr>
              <a:t>Main model: GAT on Cora and Arxiv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F6DF6"/>
                </a:solidFill>
              </a:rPr>
              <a:t>• </a:t>
            </a:r>
            <a:r>
              <a:rPr lang="en-US" sz="1700" dirty="0">
                <a:solidFill>
                  <a:srgbClr val="1C2430"/>
                </a:solidFill>
              </a:rPr>
              <a:t>Interpretability via attention weights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A89"/>
                </a:solidFill>
              </a:rPr>
              <a:t>Case Study 2 · Graph Neural Networks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intuition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89"/>
                </a:solidFill>
              </a:rPr>
              <a:t>Citation networks are graphs: papers are nodes and citations are edges.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200400" cy="42062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16642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238"/>
                </a:solidFill>
              </a:rPr>
              <a:t>Why GNNs?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>
              <a:solidFill>
                <a:srgbClr val="1C2430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rgbClr val="1C2430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rgbClr val="1C2430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rgbClr val="1C243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C2430"/>
                </a:solidFill>
              </a:rPr>
              <a:t>Traditional ML treats papers independently.</a:t>
            </a:r>
            <a:endParaRPr lang="en-US" sz="1700" dirty="0"/>
          </a:p>
          <a:p>
            <a:r>
              <a:rPr lang="en-US" sz="1700" dirty="0">
                <a:solidFill>
                  <a:srgbClr val="1C2430"/>
                </a:solidFill>
              </a:rPr>
              <a:t> 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C2430"/>
                </a:solidFill>
              </a:rPr>
              <a:t>Citation structure carries topic information.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C2430"/>
                </a:solidFill>
              </a:rPr>
              <a:t>GNNs aggregate information from neighboring papers.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383280" cy="42062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377089" y="1664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238"/>
                </a:solidFill>
              </a:rPr>
              <a:t>GCN baseline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54091" y="2170337"/>
            <a:ext cx="29814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430"/>
                </a:solidFill>
              </a:rPr>
              <a:t>Aggregates neighboring nodes with a shared convolution rule.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57838" y="2811780"/>
            <a:ext cx="15536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DF6"/>
                </a:solidFill>
              </a:rPr>
              <a:t>Main strength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7404" y="3220051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</a:rPr>
              <a:t>Efficient and stable on larger graphs.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57838" y="3749040"/>
            <a:ext cx="13852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1495B"/>
                </a:solidFill>
              </a:rPr>
              <a:t>Limitation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4206240"/>
            <a:ext cx="29092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</a:rPr>
              <a:t>Treats neighbors more uniformly.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0" y="1417320"/>
            <a:ext cx="3474720" cy="42062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275320" y="1664208"/>
            <a:ext cx="2392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238"/>
                </a:solidFill>
              </a:rPr>
              <a:t>GAT main model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07942" y="22357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2430"/>
                </a:solidFill>
              </a:rPr>
              <a:t>Learns attention weights for neighbors during aggregation.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06877" y="2948940"/>
            <a:ext cx="163870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A84F"/>
                </a:solidFill>
              </a:rPr>
              <a:t>Main strength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48048" y="33147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</a:rPr>
              <a:t>Can focus on more informative citations.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06877" y="3870960"/>
            <a:ext cx="1357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A83C"/>
                </a:solidFill>
              </a:rPr>
              <a:t>Trade-off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75320" y="42868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430"/>
                </a:solidFill>
              </a:rPr>
              <a:t>More complex and harder to scale.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A89"/>
                </a:solidFill>
              </a:rPr>
              <a:t>Case Study 2 · Graph Neural Networks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 and experiment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89"/>
                </a:solidFill>
              </a:rPr>
              <a:t>Two citation datasets were used to test small-scale and large-scale behavior.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" y="16733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DF6"/>
                </a:solidFill>
              </a:rPr>
              <a:t>Cora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2084832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2430"/>
                </a:solidFill>
              </a:rPr>
              <a:t>• 2,708 nodes
• 5,429 citation edges
• 1,433 input features
• 7 classes
• Used for detailed GCN vs GAT comparison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977640" y="187452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2F6DF6"/>
          </a:solidFill>
          <a:ln w="12700">
            <a:solidFill>
              <a:srgbClr val="2F6D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050792" y="1933956"/>
            <a:ext cx="1225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Small 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226771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1CA6A6"/>
          </a:solidFill>
          <a:ln w="12700">
            <a:solidFill>
              <a:srgbClr val="1C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050792" y="232714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Benchmark dataset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0" y="1673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A84F"/>
                </a:solidFill>
              </a:rPr>
              <a:t>OGBN-Arxiv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2084832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2430"/>
                </a:solidFill>
              </a:rPr>
              <a:t>• 169,343 nodes
• 1,166,243 citation edges
• 128 input features
• 40 classes
• Used to evaluate scalability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46920" y="187452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2FA84F"/>
          </a:solidFill>
          <a:ln w="12700">
            <a:solidFill>
              <a:srgbClr val="2FA8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720072" y="1933956"/>
            <a:ext cx="1133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Large graph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46920" y="226771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A83C"/>
          </a:solidFill>
          <a:ln w="12700">
            <a:solidFill>
              <a:srgbClr val="E6A8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720072" y="2327148"/>
            <a:ext cx="10881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430"/>
                </a:solidFill>
              </a:rPr>
              <a:t>Harder task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38"/>
                </a:solidFill>
              </a:rPr>
              <a:t>Evaluation metrics: validation accuracy, test accuracy, and macro F1 on Cora.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A89"/>
                </a:solidFill>
              </a:rPr>
              <a:t>Case Study 2 · Graph Neural Networks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diagram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89"/>
                </a:solidFill>
              </a:rPr>
              <a:t>End-to-end experimental workflow used in the project.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F6DF6"/>
          </a:solidFill>
          <a:ln w="12700">
            <a:solidFill>
              <a:srgbClr val="2F6D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245973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Load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datasets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57400" y="2743200"/>
            <a:ext cx="274320" cy="0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42316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CA6A6"/>
          </a:solidFill>
          <a:ln w="12700">
            <a:solidFill>
              <a:srgbClr val="1C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468880" y="245973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Preprocess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features / splits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2743200"/>
            <a:ext cx="274320" cy="0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FA84F"/>
          </a:solidFill>
          <a:ln w="12700">
            <a:solidFill>
              <a:srgbClr val="2FA8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343400" y="245973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GCN baseline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06440" y="2743200"/>
            <a:ext cx="274320" cy="0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17220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6A83C"/>
          </a:solidFill>
          <a:ln w="12700">
            <a:solidFill>
              <a:srgbClr val="E6A8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17920" y="245973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GAT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0960" y="2743200"/>
            <a:ext cx="274320" cy="0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04672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092440" y="245973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Evaluate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accuracy &amp; F1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55480" y="2743200"/>
            <a:ext cx="274320" cy="0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9921240" y="22860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966960" y="245973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Interpret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attention / compare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36392" y="3950208"/>
            <a:ext cx="0" cy="0"/>
          </a:xfrm>
          <a:prstGeom prst="line">
            <a:avLst/>
          </a:prstGeom>
          <a:noFill/>
          <a:ln w="25400">
            <a:solidFill>
              <a:srgbClr val="2F6DF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09728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430"/>
                </a:solidFill>
              </a:rPr>
              <a:t>Cora branch: GCN + GAT + attention analysis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759952" y="3950208"/>
            <a:ext cx="0" cy="0"/>
          </a:xfrm>
          <a:prstGeom prst="line">
            <a:avLst/>
          </a:prstGeom>
          <a:noFill/>
          <a:ln w="25400">
            <a:solidFill>
              <a:srgbClr val="2FA84F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00800" y="4069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430"/>
                </a:solidFill>
              </a:rPr>
              <a:t>Arxiv branch: GCN + GAT scalability comparison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2960" y="54406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238"/>
                </a:solidFill>
              </a:rPr>
              <a:t>Key deliverable: a fair model comparison across small and large citation graphs.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A89"/>
                </a:solidFill>
              </a:rPr>
              <a:t>Case Study 2 · Graph Neural Networks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89"/>
                </a:solidFill>
              </a:rPr>
              <a:t>Main findings from the completed experiments.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DF6"/>
                </a:solidFill>
              </a:rPr>
              <a:t>Cora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234440" cy="34747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50392" y="1773936"/>
            <a:ext cx="11795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1691640"/>
            <a:ext cx="1188720" cy="34747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084832" y="1773936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Val. Acc.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1188720" cy="34747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73552" y="1773936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 Acc.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1234440" cy="34747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462272" y="1773936"/>
            <a:ext cx="11795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Macro F1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03911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50392" y="2121408"/>
            <a:ext cx="11795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GCN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57400" y="2039112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084832" y="2121408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0.794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46120" y="2039112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73552" y="2121408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0.804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34840" y="203911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462272" y="2121408"/>
            <a:ext cx="11795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0.793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2386584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50392" y="2468880"/>
            <a:ext cx="11795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GAT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057400" y="238658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084832" y="2468880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0.812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246120" y="238658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273552" y="2468880"/>
            <a:ext cx="11338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0.820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34840" y="2386584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462272" y="2468880"/>
            <a:ext cx="117957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0.810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799" y="1325880"/>
            <a:ext cx="207745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4F"/>
                </a:solidFill>
              </a:rPr>
              <a:t>OGBN-Arxiv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00800" y="1691640"/>
            <a:ext cx="1371600" cy="34747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428232" y="1773936"/>
            <a:ext cx="13167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0" y="1691640"/>
            <a:ext cx="1417320" cy="34747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799832" y="1773936"/>
            <a:ext cx="1362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Val. Acc.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189720" y="1691640"/>
            <a:ext cx="1417320" cy="347472"/>
          </a:xfrm>
          <a:prstGeom prst="rect">
            <a:avLst/>
          </a:prstGeom>
          <a:solidFill>
            <a:srgbClr val="13223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9217152" y="1773936"/>
            <a:ext cx="1362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 Acc.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2039112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428232" y="2121408"/>
            <a:ext cx="13167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GCN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772400" y="2039112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799832" y="2121408"/>
            <a:ext cx="1362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0.574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189720" y="2039112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9217152" y="2121408"/>
            <a:ext cx="1362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0.512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400800" y="238658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428232" y="2468880"/>
            <a:ext cx="13167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GAT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7772400" y="2386584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7799832" y="2468880"/>
            <a:ext cx="1362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0.540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9189720" y="2386584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9217152" y="2468880"/>
            <a:ext cx="13624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430"/>
                </a:solidFill>
              </a:rPr>
              <a:t>0.497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68679" y="3703320"/>
            <a:ext cx="144138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238"/>
                </a:solidFill>
              </a:rPr>
              <a:t>Takeaways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14400" y="4023360"/>
            <a:ext cx="10241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430"/>
                </a:solidFill>
              </a:rPr>
              <a:t>• On Cora, GAT outperformed GCN by 1.6 percentage points on test accuracy.
• On OGBN-Arxiv, GCN outperformed GAT under the current setup.
• Attention helps on the smaller graph, while GCN remained more stable on the large-scale graph.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A89"/>
                </a:solidFill>
              </a:rPr>
              <a:t>Case Study 2 · Graph Neural Networks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A89"/>
                </a:solidFill>
              </a:rPr>
              <a:t>What this case study shows about GCN and GAT on citation networks.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64240" cy="0"/>
          </a:xfrm>
          <a:prstGeom prst="line">
            <a:avLst/>
          </a:prstGeom>
          <a:noFill/>
          <a:ln w="1524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10378440" cy="2743200"/>
          </a:xfrm>
          <a:prstGeom prst="roundRect">
            <a:avLst>
              <a:gd name="adj" fmla="val 2000"/>
            </a:avLst>
          </a:prstGeom>
          <a:solidFill>
            <a:srgbClr val="F5F7FB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96926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6DF6"/>
                </a:solidFill>
              </a:rPr>
              <a:t>1. </a:t>
            </a:r>
            <a:r>
              <a:rPr lang="en-US" sz="2100" dirty="0">
                <a:solidFill>
                  <a:srgbClr val="1C2430"/>
                </a:solidFill>
              </a:rPr>
              <a:t>GAT is beneficial on Cora, where attention can better prioritize useful neighboring papers.
</a:t>
            </a:r>
            <a:r>
              <a:rPr lang="en-US" sz="2100" b="1" dirty="0">
                <a:solidFill>
                  <a:srgbClr val="2FA84F"/>
                </a:solidFill>
              </a:rPr>
              <a:t>2. </a:t>
            </a:r>
            <a:r>
              <a:rPr lang="en-US" sz="2100" dirty="0">
                <a:solidFill>
                  <a:srgbClr val="1C2430"/>
                </a:solidFill>
              </a:rPr>
              <a:t>GCN remains a strong and efficient baseline, especially on the larger OGBN-Arxiv graph.
</a:t>
            </a:r>
            <a:r>
              <a:rPr lang="en-US" sz="2100" b="1" dirty="0">
                <a:solidFill>
                  <a:srgbClr val="D1495B"/>
                </a:solidFill>
              </a:rPr>
              <a:t>3. </a:t>
            </a:r>
            <a:r>
              <a:rPr lang="en-US" sz="2100" dirty="0">
                <a:solidFill>
                  <a:srgbClr val="1C2430"/>
                </a:solidFill>
              </a:rPr>
              <a:t>Model choice should depend on graph size, complexity, and computational budget.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97280" y="4617720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70432" y="4677156"/>
            <a:ext cx="1911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Recommended message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50292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238"/>
                </a:solidFill>
              </a:rPr>
              <a:t>Attention improves performance on smaller citation graphs, but scalability remains a key challenge for GAT on large graphs.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5806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A89"/>
                </a:solidFill>
              </a:rPr>
              <a:t>Case Study 2 · Graph Neural Networks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538</Words>
  <Application>Microsoft Office PowerPoint</Application>
  <PresentationFormat>Widescreen</PresentationFormat>
  <Paragraphs>107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GCN vs GAT for Citation Networks</dc:title>
  <dc:subject>GCN vs GAT Presentation</dc:subject>
  <dc:creator>OpenAI</dc:creator>
  <cp:lastModifiedBy>Nithin Krishnan</cp:lastModifiedBy>
  <cp:revision>2</cp:revision>
  <dcterms:created xsi:type="dcterms:W3CDTF">2026-03-14T09:09:03Z</dcterms:created>
  <dcterms:modified xsi:type="dcterms:W3CDTF">2026-03-14T09:19:44Z</dcterms:modified>
</cp:coreProperties>
</file>